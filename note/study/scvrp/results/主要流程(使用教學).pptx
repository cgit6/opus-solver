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1" r:id="rId9"/>
    <p:sldId id="260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43CB80-E6FF-561C-5674-62CA1C38B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F4ACE19-EF93-0EAE-17AF-3CADB50DF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6BDE25-AB8B-FB22-D7C3-0EAA6BF92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AE3A-A961-4D17-9D0D-38B8D60FAD65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E06F01-6966-498B-E0E5-D5CADB44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2ADD04-A3F7-5AAD-BFC2-245268DA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E4EB0-3B2E-4211-91CF-5B6BA89D36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028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FC221-3012-33C9-1A0F-80EED9A5B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737A33-5B6F-7F0D-5A18-7B672910A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6CCD06-B964-BB73-20D9-1721A68D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AE3A-A961-4D17-9D0D-38B8D60FAD65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A43B62-40ED-2963-8C3E-297618D6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5AF9B7-F737-6661-439E-B5891A28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E4EB0-3B2E-4211-91CF-5B6BA89D36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332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9865A8-FECA-657B-F58F-5B8E53C8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A7780E-4B92-7B3A-7EAE-D6A39EA66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FAC0AD-B892-F823-7F56-A32C7E81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AE3A-A961-4D17-9D0D-38B8D60FAD65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F8D4E8-30FF-273A-45B8-281C63A3B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FAACDC-4E96-FA4D-00EE-A728866D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E4EB0-3B2E-4211-91CF-5B6BA89D36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240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F045F-78EE-2A93-06C9-094468D8B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8F00FC-15CB-9231-8935-D881FF7E1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46814F1-6AB8-626F-4092-AACE3C277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85ED05-E9A7-E13D-358C-C8B96F49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AE3A-A961-4D17-9D0D-38B8D60FAD65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7D32E21-0D8C-FA1F-4590-EBCD1DF2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733C80-AEDA-B6B3-3F87-EE3BD07A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E4EB0-3B2E-4211-91CF-5B6BA89D36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074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235618-209A-F8FF-34DF-288337D59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EB0E41-1EAE-9D92-F790-E1B563152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408B1A-FFE1-4A31-4FE7-F499F416D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BEBA464-6E2E-EE08-E511-6BA543CF7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6743A22-42DE-FFC2-61EA-D6F202FA8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6E34F06-8685-D656-5C09-CDF55372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AE3A-A961-4D17-9D0D-38B8D60FAD65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A235A34-4DAF-60C0-BE83-66DAB12D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90B113A-FDEE-AE18-5F9B-67B1D1E3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E4EB0-3B2E-4211-91CF-5B6BA89D36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30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A41C71-E901-8555-CAF5-AE16C4B3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0016C0E-6CBA-F972-35FF-ECE66D7D1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AE3A-A961-4D17-9D0D-38B8D60FAD65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BA848B4-F589-7EA1-B86A-C447F043F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FD5C6E2-3075-5C1E-989E-94594764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E4EB0-3B2E-4211-91CF-5B6BA89D36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893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0DC0F2C-07A7-78A3-182C-1805510A6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AE3A-A961-4D17-9D0D-38B8D60FAD65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DF27793-7DCD-8391-BC10-C8B99A55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75C1BA-9CE2-514C-9D67-0620D3A5D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E4EB0-3B2E-4211-91CF-5B6BA89D36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57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9271F3-9A06-C57A-C5A3-77673F85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07C8C9-D6E6-82CB-1429-8DFAB2703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4CDB0B-5D50-F8AA-BE80-A9F6980D6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7C13D3-2D4F-2931-2E40-361662BD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AE3A-A961-4D17-9D0D-38B8D60FAD65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0A1284-413D-FD3F-CB0D-0A1E00F0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697F5F-EBAD-A632-10B6-549A1D8AD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E4EB0-3B2E-4211-91CF-5B6BA89D36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968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1ECF95-67BC-639F-E37D-9D2FE77D0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3249E5D-A803-1008-B6B0-4ECCC18735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F2219D-E7C7-DF4E-1759-AB6CBDC37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059735-6A1D-F03B-EDC0-54D2C3254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AE3A-A961-4D17-9D0D-38B8D60FAD65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9242603-7455-AF27-9E9D-9A736E84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9C62AB-A391-E4DE-A013-A116CBD4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E4EB0-3B2E-4211-91CF-5B6BA89D36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060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EF32E2-FFBC-B5CC-71A8-096FA11C2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00A8386-F123-3829-5D40-3E00D3BE4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03D205-2FE0-9B5C-03D4-A949B185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AE3A-A961-4D17-9D0D-38B8D60FAD65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2FED01-545C-988E-427D-37EA2EB1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B9266A-5F2C-03A0-5739-6307FC273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E4EB0-3B2E-4211-91CF-5B6BA89D36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89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FC86306-6165-F9E0-7606-0C40BE630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7C8178-3006-FC09-F6DC-834127C35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EE4B088-3E26-DEEB-1764-2A54771A9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AE3A-A961-4D17-9D0D-38B8D60FAD65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502B69-122E-EA55-CEFA-ACF754517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E06335-5D4A-6332-D4E4-590EBFAB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E4EB0-3B2E-4211-91CF-5B6BA89D36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495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A3220A8-0986-EEA2-163A-9F7786087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D2DD4E-077D-C76B-10F2-DBCA8A873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A80A96-9A9B-138F-5280-85507D082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FAE3A-A961-4D17-9D0D-38B8D60FAD65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CC8ED9-E4AE-4BE9-E417-F2FDF8E53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E96F66-3D01-8004-6C90-B5EEEECD1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E4EB0-3B2E-4211-91CF-5B6BA89D36A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556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0297F8-341F-0978-F0C8-EA775388E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BEDF798-A7D5-F107-1789-1D7B8D673F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365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107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30A65F2-1256-C952-3EF4-DF4197668E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67"/>
          <a:stretch/>
        </p:blipFill>
        <p:spPr>
          <a:xfrm>
            <a:off x="474680" y="1597321"/>
            <a:ext cx="4619055" cy="175904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FCFE983-10D9-5D45-26E5-9AE9A8098CD0}"/>
              </a:ext>
            </a:extLst>
          </p:cNvPr>
          <p:cNvSpPr txBox="1"/>
          <p:nvPr/>
        </p:nvSpPr>
        <p:spPr>
          <a:xfrm>
            <a:off x="498780" y="1163735"/>
            <a:ext cx="325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要先退回最外層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0C692B-D48C-DD83-92E1-8899725D11FB}"/>
              </a:ext>
            </a:extLst>
          </p:cNvPr>
          <p:cNvSpPr txBox="1"/>
          <p:nvPr/>
        </p:nvSpPr>
        <p:spPr>
          <a:xfrm>
            <a:off x="317894" y="166726"/>
            <a:ext cx="32556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題庫生成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4E9A37F-A431-97D8-3C57-C11902F00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39" y="3811593"/>
            <a:ext cx="4184865" cy="114940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E1C4500-580C-41A9-DA81-E108091668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8812" b="72688"/>
          <a:stretch/>
        </p:blipFill>
        <p:spPr>
          <a:xfrm>
            <a:off x="317894" y="5416233"/>
            <a:ext cx="4686538" cy="113431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544023A-6FF0-1C63-EE86-1A13C8854C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707" y="1638598"/>
            <a:ext cx="5505733" cy="167648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DC610A3-8899-7A92-6185-849A757D36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984" y="3705262"/>
            <a:ext cx="5385077" cy="83189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DFD7114E-A766-43DC-23A5-9D4688E50D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707" y="5449961"/>
            <a:ext cx="5562886" cy="1066855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26C5E4B9-12C8-1724-3A55-C4774E1BD9AE}"/>
              </a:ext>
            </a:extLst>
          </p:cNvPr>
          <p:cNvSpPr txBox="1"/>
          <p:nvPr/>
        </p:nvSpPr>
        <p:spPr>
          <a:xfrm>
            <a:off x="6464893" y="4670277"/>
            <a:ext cx="5383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有兩階段生成固定題庫</a:t>
            </a:r>
            <a:br>
              <a:rPr lang="en-US" altLang="zh-TW" dirty="0"/>
            </a:br>
            <a:r>
              <a:rPr lang="zh-TW" altLang="en-US" dirty="0"/>
              <a:t>使用介紹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A151FA-8FE1-B4CE-6129-90163696AAAC}"/>
              </a:ext>
            </a:extLst>
          </p:cNvPr>
          <p:cNvSpPr/>
          <p:nvPr/>
        </p:nvSpPr>
        <p:spPr>
          <a:xfrm>
            <a:off x="795130" y="3003826"/>
            <a:ext cx="1099931" cy="212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154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092827A-6D8F-7D47-3DEE-0264F4BF49CE}"/>
              </a:ext>
            </a:extLst>
          </p:cNvPr>
          <p:cNvSpPr txBox="1"/>
          <p:nvPr/>
        </p:nvSpPr>
        <p:spPr>
          <a:xfrm>
            <a:off x="2328729" y="2845750"/>
            <a:ext cx="4742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執行</a:t>
            </a:r>
            <a:r>
              <a:rPr lang="en-US" altLang="zh-TW" dirty="0"/>
              <a:t>GUROBI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0992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BA5F68A-0AFA-20F6-D074-61084D109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0" y="1196964"/>
            <a:ext cx="1397072" cy="939848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E4A332C-CFB7-793F-6156-50B6CC24E77A}"/>
              </a:ext>
            </a:extLst>
          </p:cNvPr>
          <p:cNvSpPr txBox="1"/>
          <p:nvPr/>
        </p:nvSpPr>
        <p:spPr>
          <a:xfrm>
            <a:off x="0" y="816281"/>
            <a:ext cx="4840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將生成的固定路線整個資料夾複製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B3C5DB2-D45D-EF6E-9E49-98E0A077B3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67"/>
          <a:stretch/>
        </p:blipFill>
        <p:spPr>
          <a:xfrm>
            <a:off x="86162" y="2509552"/>
            <a:ext cx="4619055" cy="175904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344937B-364D-7164-71B6-A8FEB9054D38}"/>
              </a:ext>
            </a:extLst>
          </p:cNvPr>
          <p:cNvSpPr/>
          <p:nvPr/>
        </p:nvSpPr>
        <p:spPr>
          <a:xfrm>
            <a:off x="428661" y="3683002"/>
            <a:ext cx="1099931" cy="212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F25EB64-697B-EB8E-D7AD-68E46897AD90}"/>
              </a:ext>
            </a:extLst>
          </p:cNvPr>
          <p:cNvSpPr txBox="1"/>
          <p:nvPr/>
        </p:nvSpPr>
        <p:spPr>
          <a:xfrm>
            <a:off x="180849" y="2147495"/>
            <a:ext cx="951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複製到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ABB71B7-7728-B3C4-343F-5A2BBC7CE215}"/>
              </a:ext>
            </a:extLst>
          </p:cNvPr>
          <p:cNvSpPr txBox="1"/>
          <p:nvPr/>
        </p:nvSpPr>
        <p:spPr>
          <a:xfrm>
            <a:off x="51026" y="487110"/>
            <a:ext cx="2558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P-n16-k8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A83FFA3-3179-7AFC-B232-CFD89C13AF11}"/>
              </a:ext>
            </a:extLst>
          </p:cNvPr>
          <p:cNvSpPr txBox="1"/>
          <p:nvPr/>
        </p:nvSpPr>
        <p:spPr>
          <a:xfrm>
            <a:off x="6255216" y="2643445"/>
            <a:ext cx="1675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貼上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63A913DB-2BF5-562B-B220-CE3BBDFA1A5B}"/>
              </a:ext>
            </a:extLst>
          </p:cNvPr>
          <p:cNvCxnSpPr/>
          <p:nvPr/>
        </p:nvCxnSpPr>
        <p:spPr>
          <a:xfrm>
            <a:off x="5289847" y="487110"/>
            <a:ext cx="59820" cy="632238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4E4B8B1C-87D2-3E24-D846-835C987810C6}"/>
              </a:ext>
            </a:extLst>
          </p:cNvPr>
          <p:cNvCxnSpPr>
            <a:cxnSpLocks/>
          </p:cNvCxnSpPr>
          <p:nvPr/>
        </p:nvCxnSpPr>
        <p:spPr>
          <a:xfrm>
            <a:off x="7150388" y="3648301"/>
            <a:ext cx="0" cy="31879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圖片 32">
            <a:extLst>
              <a:ext uri="{FF2B5EF4-FFF2-40B4-BE49-F238E27FC236}">
                <a16:creationId xmlns:a16="http://schemas.microsoft.com/office/drawing/2014/main" id="{94A06F37-7F71-61A4-1969-71D9D5E45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8" y="4381702"/>
            <a:ext cx="2514729" cy="1162110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9F3AA3D3-6898-6E42-FF6E-E66F94CF5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34" y="5669592"/>
            <a:ext cx="2089257" cy="1149409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55213BEF-F3ED-5C87-7056-A0B308A704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7893" y="487110"/>
            <a:ext cx="2527430" cy="1098606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E8534717-0FF0-C5AB-7979-A89C63B59C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7893" y="4070506"/>
            <a:ext cx="2590933" cy="2508379"/>
          </a:xfrm>
          <a:prstGeom prst="rect">
            <a:avLst/>
          </a:prstGeom>
        </p:spPr>
      </p:pic>
      <p:sp>
        <p:nvSpPr>
          <p:cNvPr id="42" name="文字方塊 41">
            <a:extLst>
              <a:ext uri="{FF2B5EF4-FFF2-40B4-BE49-F238E27FC236}">
                <a16:creationId xmlns:a16="http://schemas.microsoft.com/office/drawing/2014/main" id="{2F4A3498-2BC7-C1D2-BF01-BEEEDDF08736}"/>
              </a:ext>
            </a:extLst>
          </p:cNvPr>
          <p:cNvSpPr txBox="1"/>
          <p:nvPr/>
        </p:nvSpPr>
        <p:spPr>
          <a:xfrm>
            <a:off x="180849" y="29910"/>
            <a:ext cx="2308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GUROBI</a:t>
            </a:r>
            <a:r>
              <a:rPr lang="zh-TW" altLang="en-US" dirty="0"/>
              <a:t>題庫</a:t>
            </a:r>
          </a:p>
        </p:txBody>
      </p:sp>
    </p:spTree>
    <p:extLst>
      <p:ext uri="{BB962C8B-B14F-4D97-AF65-F5344CB8AC3E}">
        <p14:creationId xmlns:p14="http://schemas.microsoft.com/office/powerpoint/2010/main" val="61425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8A9D743-BC63-60E3-2D86-1A1A4F048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346" y="2141395"/>
            <a:ext cx="2540131" cy="95889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378BAA8-F41B-AF1E-B760-940169CB96DB}"/>
              </a:ext>
            </a:extLst>
          </p:cNvPr>
          <p:cNvSpPr txBox="1"/>
          <p:nvPr/>
        </p:nvSpPr>
        <p:spPr>
          <a:xfrm>
            <a:off x="1912730" y="887896"/>
            <a:ext cx="2690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內有使用教學</a:t>
            </a:r>
          </a:p>
        </p:txBody>
      </p:sp>
    </p:spTree>
    <p:extLst>
      <p:ext uri="{BB962C8B-B14F-4D97-AF65-F5344CB8AC3E}">
        <p14:creationId xmlns:p14="http://schemas.microsoft.com/office/powerpoint/2010/main" val="1686795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F0BC488-4BF7-2EF6-36AA-073851C5E69C}"/>
              </a:ext>
            </a:extLst>
          </p:cNvPr>
          <p:cNvSpPr txBox="1"/>
          <p:nvPr/>
        </p:nvSpPr>
        <p:spPr>
          <a:xfrm>
            <a:off x="1786071" y="1516879"/>
            <a:ext cx="3892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CDELS</a:t>
            </a:r>
            <a:r>
              <a:rPr lang="zh-TW" altLang="en-US" dirty="0"/>
              <a:t> 和 </a:t>
            </a:r>
            <a:r>
              <a:rPr lang="en-US" altLang="zh-TW" dirty="0"/>
              <a:t>CDELSSA</a:t>
            </a:r>
            <a:br>
              <a:rPr lang="en-US" altLang="zh-TW" dirty="0"/>
            </a:br>
            <a:r>
              <a:rPr lang="zh-TW" altLang="en-US" dirty="0"/>
              <a:t>演算法</a:t>
            </a:r>
          </a:p>
        </p:txBody>
      </p:sp>
    </p:spTree>
    <p:extLst>
      <p:ext uri="{BB962C8B-B14F-4D97-AF65-F5344CB8AC3E}">
        <p14:creationId xmlns:p14="http://schemas.microsoft.com/office/powerpoint/2010/main" val="766101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BA5F68A-0AFA-20F6-D074-61084D109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0" y="1214056"/>
            <a:ext cx="1397072" cy="939848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E4A332C-CFB7-793F-6156-50B6CC24E77A}"/>
              </a:ext>
            </a:extLst>
          </p:cNvPr>
          <p:cNvSpPr txBox="1"/>
          <p:nvPr/>
        </p:nvSpPr>
        <p:spPr>
          <a:xfrm>
            <a:off x="107520" y="808904"/>
            <a:ext cx="4840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將生成的固定路線</a:t>
            </a:r>
            <a:r>
              <a:rPr lang="en-US" altLang="zh-TW" sz="1600" dirty="0" err="1"/>
              <a:t>MaxTransfer</a:t>
            </a:r>
            <a:r>
              <a:rPr lang="zh-TW" altLang="en-US" sz="1600" dirty="0"/>
              <a:t>整個資料夾內容複製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B3C5DB2-D45D-EF6E-9E49-98E0A077B3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67"/>
          <a:stretch/>
        </p:blipFill>
        <p:spPr>
          <a:xfrm>
            <a:off x="107520" y="3882593"/>
            <a:ext cx="4619055" cy="175904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344937B-364D-7164-71B6-A8FEB9054D38}"/>
              </a:ext>
            </a:extLst>
          </p:cNvPr>
          <p:cNvSpPr/>
          <p:nvPr/>
        </p:nvSpPr>
        <p:spPr>
          <a:xfrm>
            <a:off x="450019" y="4405198"/>
            <a:ext cx="1099931" cy="212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F25EB64-697B-EB8E-D7AD-68E46897AD90}"/>
              </a:ext>
            </a:extLst>
          </p:cNvPr>
          <p:cNvSpPr txBox="1"/>
          <p:nvPr/>
        </p:nvSpPr>
        <p:spPr>
          <a:xfrm>
            <a:off x="202207" y="3390984"/>
            <a:ext cx="951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複製到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0286AF9-AC53-6F9A-AADF-C20A61400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14" y="5651538"/>
            <a:ext cx="1451236" cy="115795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C62F3F8-A0C6-8369-DBB4-4C40725F9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476" y="878174"/>
            <a:ext cx="2749691" cy="87634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AA66430-6A07-CA60-2D4A-B744C2C749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0427" y="2447271"/>
            <a:ext cx="3486329" cy="114305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26939AD3-AC44-F0E9-26B4-9025A6B1D32D}"/>
              </a:ext>
            </a:extLst>
          </p:cNvPr>
          <p:cNvSpPr txBox="1"/>
          <p:nvPr/>
        </p:nvSpPr>
        <p:spPr>
          <a:xfrm>
            <a:off x="6144422" y="1862982"/>
            <a:ext cx="2110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看要用哪個選哪個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7C1DA90E-9623-CF4D-FE2C-3BCC352359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7755" y="3882593"/>
            <a:ext cx="736638" cy="260363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ABB71B7-7728-B3C4-343F-5A2BBC7CE215}"/>
              </a:ext>
            </a:extLst>
          </p:cNvPr>
          <p:cNvSpPr txBox="1"/>
          <p:nvPr/>
        </p:nvSpPr>
        <p:spPr>
          <a:xfrm>
            <a:off x="107520" y="452605"/>
            <a:ext cx="2558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P-n16-k8</a:t>
            </a:r>
            <a:endParaRPr lang="zh-TW" altLang="en-US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7DB7953E-6A63-0ABA-0C5E-68236F5943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339" y="4435219"/>
            <a:ext cx="1828894" cy="212100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3BAE3CD1-262F-1DC2-3ED1-B60D00A7B3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5937" y="3740580"/>
            <a:ext cx="2063856" cy="291480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634BD2D9-5896-A477-5049-06769593EA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6690" y="1244939"/>
            <a:ext cx="1866996" cy="863644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CE9CD1E7-0EAF-24C2-1BC5-7CEA825160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3995" y="2187185"/>
            <a:ext cx="3784795" cy="1612983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4A83FFA3-3179-7AFC-B232-CFD89C13AF11}"/>
              </a:ext>
            </a:extLst>
          </p:cNvPr>
          <p:cNvSpPr txBox="1"/>
          <p:nvPr/>
        </p:nvSpPr>
        <p:spPr>
          <a:xfrm>
            <a:off x="8635525" y="4742916"/>
            <a:ext cx="10212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貼上</a:t>
            </a:r>
            <a:br>
              <a:rPr lang="en-US" altLang="zh-TW" dirty="0"/>
            </a:br>
            <a:r>
              <a:rPr lang="zh-TW" altLang="en-US" dirty="0"/>
              <a:t>並記得還需要另外貼</a:t>
            </a:r>
            <a:br>
              <a:rPr lang="en-US" altLang="zh-TW" dirty="0"/>
            </a:br>
            <a:r>
              <a:rPr lang="en-US" altLang="zh-TW" dirty="0"/>
              <a:t>.</a:t>
            </a:r>
            <a:r>
              <a:rPr lang="en-US" altLang="zh-TW" dirty="0" err="1"/>
              <a:t>vrp</a:t>
            </a:r>
            <a:r>
              <a:rPr lang="zh-TW" altLang="en-US" dirty="0"/>
              <a:t>檔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63A913DB-2BF5-562B-B220-CE3BBDFA1A5B}"/>
              </a:ext>
            </a:extLst>
          </p:cNvPr>
          <p:cNvCxnSpPr/>
          <p:nvPr/>
        </p:nvCxnSpPr>
        <p:spPr>
          <a:xfrm>
            <a:off x="5289847" y="487110"/>
            <a:ext cx="59820" cy="632238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4E4B8B1C-87D2-3E24-D846-835C987810C6}"/>
              </a:ext>
            </a:extLst>
          </p:cNvPr>
          <p:cNvCxnSpPr>
            <a:stCxn id="27" idx="3"/>
          </p:cNvCxnSpPr>
          <p:nvPr/>
        </p:nvCxnSpPr>
        <p:spPr>
          <a:xfrm>
            <a:off x="9656748" y="5481580"/>
            <a:ext cx="222190" cy="5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B54E598B-975D-BB45-74D2-2669028970C6}"/>
              </a:ext>
            </a:extLst>
          </p:cNvPr>
          <p:cNvSpPr txBox="1"/>
          <p:nvPr/>
        </p:nvSpPr>
        <p:spPr>
          <a:xfrm>
            <a:off x="107520" y="49992"/>
            <a:ext cx="742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題庫</a:t>
            </a:r>
          </a:p>
        </p:txBody>
      </p:sp>
    </p:spTree>
    <p:extLst>
      <p:ext uri="{BB962C8B-B14F-4D97-AF65-F5344CB8AC3E}">
        <p14:creationId xmlns:p14="http://schemas.microsoft.com/office/powerpoint/2010/main" val="4173143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49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7BA561D-B0B9-53C7-1AFF-B987957B17C7}"/>
              </a:ext>
            </a:extLst>
          </p:cNvPr>
          <p:cNvSpPr txBox="1"/>
          <p:nvPr/>
        </p:nvSpPr>
        <p:spPr>
          <a:xfrm>
            <a:off x="854579" y="1055406"/>
            <a:ext cx="5588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VS</a:t>
            </a:r>
            <a:r>
              <a:rPr lang="zh-TW" altLang="en-US" dirty="0"/>
              <a:t>裡面指令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980B373-CD2D-96E2-197D-96F04525FD43}"/>
              </a:ext>
            </a:extLst>
          </p:cNvPr>
          <p:cNvSpPr txBox="1"/>
          <p:nvPr/>
        </p:nvSpPr>
        <p:spPr>
          <a:xfrm>
            <a:off x="276314" y="2967335"/>
            <a:ext cx="11639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-c 2 -f ./instances/P/P-n23-k8.vrp -F ./instances/P/P-n23-k8_RouteCap_2.txt_WithSpareCapacity_MaxTransfer_1_Gurobi.txt</a:t>
            </a:r>
          </a:p>
        </p:txBody>
      </p:sp>
    </p:spTree>
    <p:extLst>
      <p:ext uri="{BB962C8B-B14F-4D97-AF65-F5344CB8AC3E}">
        <p14:creationId xmlns:p14="http://schemas.microsoft.com/office/powerpoint/2010/main" val="2789039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645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EC4E9FC-87BF-DC08-518D-A8969AE96A82}"/>
              </a:ext>
            </a:extLst>
          </p:cNvPr>
          <p:cNvSpPr txBox="1"/>
          <p:nvPr/>
        </p:nvSpPr>
        <p:spPr>
          <a:xfrm>
            <a:off x="0" y="25637"/>
            <a:ext cx="306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Draw generation</a:t>
            </a:r>
            <a:r>
              <a:rPr lang="zh-TW" altLang="en-US" dirty="0"/>
              <a:t>趨勢圖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BD35A99-B736-2E33-6C47-CCB42AFA23C5}"/>
              </a:ext>
            </a:extLst>
          </p:cNvPr>
          <p:cNvSpPr txBox="1"/>
          <p:nvPr/>
        </p:nvSpPr>
        <p:spPr>
          <a:xfrm>
            <a:off x="3063667" y="266596"/>
            <a:ext cx="6118788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import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matplotlib.pyplot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as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</a:t>
            </a:r>
            <a:endParaRPr lang="en-US" altLang="zh-TW" sz="900" b="0" dirty="0">
              <a:effectLst/>
              <a:latin typeface="Consolas" panose="020B0609020204030204" pitchFamily="49" charset="0"/>
            </a:endParaRPr>
          </a:p>
          <a:p>
            <a:br>
              <a:rPr lang="en-US" altLang="zh-TW" sz="900" b="0" dirty="0">
                <a:effectLst/>
                <a:latin typeface="Consolas" panose="020B0609020204030204" pitchFamily="49" charset="0"/>
              </a:rPr>
            </a:br>
            <a:r>
              <a:rPr lang="en-US" altLang="zh-TW" sz="900" b="0" dirty="0">
                <a:effectLst/>
                <a:latin typeface="Consolas" panose="020B0609020204030204" pitchFamily="49" charset="0"/>
              </a:rPr>
              <a:t># </a:t>
            </a:r>
            <a:r>
              <a:rPr lang="zh-TW" altLang="en-US" sz="900" b="0" dirty="0">
                <a:effectLst/>
                <a:latin typeface="Consolas" panose="020B0609020204030204" pitchFamily="49" charset="0"/>
              </a:rPr>
              <a:t>讀取檔案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with open(</a:t>
            </a:r>
            <a:r>
              <a:rPr lang="en-US" altLang="zh-TW" sz="900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'P-n23-k8_RouteCap_2.txt_WithSpareCapacity_MaxTransfer_1_report.txt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', 'r') as file: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lines =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file.readlines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zh-TW" sz="900" b="0" dirty="0">
                <a:effectLst/>
                <a:latin typeface="Consolas" panose="020B0609020204030204" pitchFamily="49" charset="0"/>
              </a:rPr>
            </a:br>
            <a:r>
              <a:rPr lang="en-US" altLang="zh-TW" sz="900" b="0" dirty="0">
                <a:effectLst/>
                <a:latin typeface="Consolas" panose="020B0609020204030204" pitchFamily="49" charset="0"/>
              </a:rPr>
              <a:t># </a:t>
            </a:r>
            <a:r>
              <a:rPr lang="zh-TW" altLang="en-US" sz="900" b="0" dirty="0">
                <a:effectLst/>
                <a:latin typeface="Consolas" panose="020B0609020204030204" pitchFamily="49" charset="0"/>
              </a:rPr>
              <a:t>初始化變數</a:t>
            </a:r>
          </a:p>
          <a:p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onctime_count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= 0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generations = []</a:t>
            </a:r>
          </a:p>
          <a:p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best_solutions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= []</a:t>
            </a:r>
          </a:p>
          <a:p>
            <a:br>
              <a:rPr lang="en-US" altLang="zh-TW" sz="900" b="0" dirty="0">
                <a:effectLst/>
                <a:latin typeface="Consolas" panose="020B0609020204030204" pitchFamily="49" charset="0"/>
              </a:rPr>
            </a:br>
            <a:r>
              <a:rPr lang="en-US" altLang="zh-TW" sz="900" b="0" dirty="0">
                <a:effectLst/>
                <a:latin typeface="Consolas" panose="020B0609020204030204" pitchFamily="49" charset="0"/>
              </a:rPr>
              <a:t># </a:t>
            </a:r>
            <a:r>
              <a:rPr lang="zh-TW" altLang="en-US" sz="900" b="0" dirty="0">
                <a:effectLst/>
                <a:latin typeface="Consolas" panose="020B0609020204030204" pitchFamily="49" charset="0"/>
              </a:rPr>
              <a:t>分析檔案內容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for line in lines: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if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line.startswith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('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onctime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'):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if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onctime_count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&gt; 0: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    # </a:t>
            </a:r>
            <a:r>
              <a:rPr lang="zh-TW" altLang="en-US" sz="900" b="0" dirty="0">
                <a:effectLst/>
                <a:latin typeface="Consolas" panose="020B0609020204030204" pitchFamily="49" charset="0"/>
              </a:rPr>
              <a:t>畫圖</a:t>
            </a:r>
          </a:p>
          <a:p>
            <a:r>
              <a:rPr lang="zh-TW" altLang="en-US" sz="9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plt.plot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(generations,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best_solutions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, label=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f'onctime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{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onctime_count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}')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plt.xlabel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('Generation')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plt.ylabel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('Best Solution')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plt.title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f'Graph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for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onctime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{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onctime_count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}')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plt.legend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plt.show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zh-TW" sz="900" b="0" dirty="0">
                <a:effectLst/>
                <a:latin typeface="Consolas" panose="020B0609020204030204" pitchFamily="49" charset="0"/>
              </a:rPr>
            </a:br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# </a:t>
            </a:r>
            <a:r>
              <a:rPr lang="zh-TW" altLang="en-US" sz="900" b="0" dirty="0">
                <a:effectLst/>
                <a:latin typeface="Consolas" panose="020B0609020204030204" pitchFamily="49" charset="0"/>
              </a:rPr>
              <a:t>重置變數</a:t>
            </a:r>
          </a:p>
          <a:p>
            <a:r>
              <a:rPr lang="zh-TW" altLang="en-US" sz="9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onctime_count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+= 1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generations = []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best_solutions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= []</a:t>
            </a:r>
          </a:p>
          <a:p>
            <a:br>
              <a:rPr lang="en-US" altLang="zh-TW" sz="900" b="0" dirty="0">
                <a:effectLst/>
                <a:latin typeface="Consolas" panose="020B0609020204030204" pitchFamily="49" charset="0"/>
              </a:rPr>
            </a:br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elif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line.startswith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('Generation:'):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generation_value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= int(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line.split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(':')[1].strip())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generations.append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generation_value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zh-TW" sz="900" b="0" dirty="0">
                <a:effectLst/>
                <a:latin typeface="Consolas" panose="020B0609020204030204" pitchFamily="49" charset="0"/>
              </a:rPr>
            </a:br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elif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line.startswith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('Best solution:'):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best_solution_value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= int(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line.split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(':')[1].strip())</a:t>
            </a:r>
          </a:p>
          <a:p>
            <a:r>
              <a:rPr lang="en-US" altLang="zh-TW" sz="9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best_solutions.append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best_solution_value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zh-TW" sz="900" b="0" dirty="0">
                <a:effectLst/>
                <a:latin typeface="Consolas" panose="020B0609020204030204" pitchFamily="49" charset="0"/>
              </a:rPr>
            </a:br>
            <a:r>
              <a:rPr lang="en-US" altLang="zh-TW" sz="900" b="0" dirty="0">
                <a:effectLst/>
                <a:latin typeface="Consolas" panose="020B0609020204030204" pitchFamily="49" charset="0"/>
              </a:rPr>
              <a:t># </a:t>
            </a:r>
            <a:r>
              <a:rPr lang="zh-TW" altLang="en-US" sz="900" b="0" dirty="0">
                <a:effectLst/>
                <a:latin typeface="Consolas" panose="020B0609020204030204" pitchFamily="49" charset="0"/>
              </a:rPr>
              <a:t>最後一組的圖</a:t>
            </a:r>
          </a:p>
          <a:p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plt.plot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(generations,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best_solutions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, label=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f'onctime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{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onctime_count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}')</a:t>
            </a:r>
          </a:p>
          <a:p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plt.xlabel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('Generation')</a:t>
            </a:r>
          </a:p>
          <a:p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plt.ylabel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('Best Solution')</a:t>
            </a:r>
          </a:p>
          <a:p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plt.title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f'Graph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for 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onctime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 {</a:t>
            </a:r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onctime_count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}')</a:t>
            </a:r>
          </a:p>
          <a:p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plt.legend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TW" sz="900" b="0" dirty="0" err="1">
                <a:effectLst/>
                <a:latin typeface="Consolas" panose="020B0609020204030204" pitchFamily="49" charset="0"/>
              </a:rPr>
              <a:t>plt.show</a:t>
            </a:r>
            <a:r>
              <a:rPr lang="en-US" altLang="zh-TW" sz="900" b="0" dirty="0"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zh-TW" sz="900" b="0" dirty="0">
                <a:effectLst/>
                <a:latin typeface="Consolas" panose="020B0609020204030204" pitchFamily="49" charset="0"/>
              </a:rPr>
            </a:br>
            <a:endParaRPr lang="en-US" altLang="zh-TW" sz="9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907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447</Words>
  <Application>Microsoft Office PowerPoint</Application>
  <PresentationFormat>寬螢幕</PresentationFormat>
  <Paragraphs>57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呂穗昇</dc:creator>
  <cp:lastModifiedBy>呂穗昇</cp:lastModifiedBy>
  <cp:revision>22</cp:revision>
  <dcterms:created xsi:type="dcterms:W3CDTF">2023-11-09T17:23:35Z</dcterms:created>
  <dcterms:modified xsi:type="dcterms:W3CDTF">2023-11-22T12:11:12Z</dcterms:modified>
</cp:coreProperties>
</file>